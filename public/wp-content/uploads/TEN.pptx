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16" r:id="rId3"/>
    <p:sldId id="268" r:id="rId4"/>
    <p:sldId id="272" r:id="rId5"/>
    <p:sldId id="274" r:id="rId6"/>
    <p:sldId id="283" r:id="rId7"/>
    <p:sldId id="285" r:id="rId8"/>
    <p:sldId id="287" r:id="rId9"/>
    <p:sldId id="318" r:id="rId10"/>
    <p:sldId id="29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196"/>
    <a:srgbClr val="315FAB"/>
    <a:srgbClr val="23447A"/>
    <a:srgbClr val="A70A4F"/>
    <a:srgbClr val="2D5596"/>
    <a:srgbClr val="510526"/>
    <a:srgbClr val="182C4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384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8EF9C-C467-41C1-A210-6EF38B6F17C5}" type="datetimeFigureOut">
              <a:rPr lang="en-GB" smtClean="0"/>
              <a:pPr/>
              <a:t>15/06/2015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D36EE-EE00-41C3-AAE6-5AB1CECFB02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35484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9033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33113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8056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6738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05377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2896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8087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868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0756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58646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5292"/>
            <a:ext cx="2133600" cy="365125"/>
          </a:xfrm>
          <a:prstGeom prst="rect">
            <a:avLst/>
          </a:prstGeom>
        </p:spPr>
        <p:txBody>
          <a:bodyPr/>
          <a:lstStyle/>
          <a:p>
            <a:fld id="{958E810F-4308-F84A-A6E8-69C0E616730E}" type="datetimeFigureOut">
              <a:rPr lang="en-US" smtClean="0"/>
              <a:pPr/>
              <a:t>6/15/2015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BEF9CE-BC0D-454A-A8B5-9AF4FE4DC0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0596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Kangeroo1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70" y="186268"/>
            <a:ext cx="611062" cy="406400"/>
          </a:xfrm>
          <a:prstGeom prst="rect">
            <a:avLst/>
          </a:prstGeom>
        </p:spPr>
      </p:pic>
      <p:pic>
        <p:nvPicPr>
          <p:cNvPr id="9" name="Picture 8" descr="kamguru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67" y="677335"/>
            <a:ext cx="1433665" cy="3739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735667" y="0"/>
            <a:ext cx="7408333" cy="6858000"/>
          </a:xfrm>
          <a:prstGeom prst="rect">
            <a:avLst/>
          </a:prstGeom>
          <a:solidFill>
            <a:srgbClr val="2A5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1205412"/>
            <a:ext cx="1735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0" dirty="0" smtClean="0">
                <a:solidFill>
                  <a:srgbClr val="510526"/>
                </a:solidFill>
                <a:latin typeface="Damascus"/>
                <a:cs typeface="Damascus"/>
              </a:rPr>
              <a:t>Always </a:t>
            </a:r>
          </a:p>
          <a:p>
            <a:pPr algn="ctr"/>
            <a:r>
              <a:rPr lang="en-US" sz="1400" b="1" i="0" dirty="0" smtClean="0">
                <a:solidFill>
                  <a:srgbClr val="510526"/>
                </a:solidFill>
                <a:latin typeface="Damascus"/>
                <a:cs typeface="Damascus"/>
              </a:rPr>
              <a:t>One Jump Ahead </a:t>
            </a:r>
          </a:p>
          <a:p>
            <a:pPr algn="ctr"/>
            <a:r>
              <a:rPr lang="en-US" sz="1400" b="1" i="0" dirty="0" smtClean="0">
                <a:solidFill>
                  <a:srgbClr val="510526"/>
                </a:solidFill>
                <a:latin typeface="Damascus"/>
                <a:cs typeface="Damascus"/>
              </a:rPr>
              <a:t>In KAM</a:t>
            </a:r>
          </a:p>
          <a:p>
            <a:pPr algn="ctr"/>
            <a:endParaRPr lang="en-US" sz="1400" b="1" i="0" dirty="0" smtClean="0">
              <a:solidFill>
                <a:srgbClr val="182C4C"/>
              </a:solidFill>
              <a:latin typeface="Damascus"/>
              <a:cs typeface="Damascu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512005"/>
            <a:ext cx="1735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>
                <a:solidFill>
                  <a:srgbClr val="510526"/>
                </a:solidFill>
                <a:latin typeface="Arial"/>
                <a:cs typeface="Arial"/>
              </a:rPr>
              <a:t>www.kamguru.com</a:t>
            </a:r>
          </a:p>
          <a:p>
            <a:pPr algn="ctr"/>
            <a:endParaRPr lang="en-US" sz="800" b="1" dirty="0">
              <a:solidFill>
                <a:srgbClr val="510526"/>
              </a:solidFill>
              <a:latin typeface="Arial"/>
              <a:cs typeface="Arial"/>
            </a:endParaRPr>
          </a:p>
          <a:p>
            <a:pPr algn="ctr"/>
            <a:endParaRPr lang="en-US" sz="800" b="1" dirty="0" smtClean="0">
              <a:solidFill>
                <a:srgbClr val="510526"/>
              </a:solidFill>
              <a:latin typeface="Arial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84536" y="6630543"/>
            <a:ext cx="1735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>
                <a:solidFill>
                  <a:schemeClr val="bg1"/>
                </a:solidFill>
                <a:latin typeface="Arial"/>
                <a:cs typeface="Arial"/>
              </a:rPr>
              <a:t>Copyright © 2015 </a:t>
            </a:r>
            <a:r>
              <a:rPr lang="en-US" sz="800" dirty="0" err="1" smtClean="0">
                <a:solidFill>
                  <a:schemeClr val="bg1"/>
                </a:solidFill>
                <a:latin typeface="Arial"/>
                <a:cs typeface="Arial"/>
              </a:rPr>
              <a:t>Kamguru</a:t>
            </a:r>
            <a:endParaRPr lang="en-US" sz="800" dirty="0" smtClean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en-US" sz="8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en-US" sz="8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4" name="Freeform 13"/>
          <p:cNvSpPr/>
          <p:nvPr userDrawn="1"/>
        </p:nvSpPr>
        <p:spPr>
          <a:xfrm>
            <a:off x="135468" y="354879"/>
            <a:ext cx="842441" cy="178522"/>
          </a:xfrm>
          <a:custGeom>
            <a:avLst/>
            <a:gdLst>
              <a:gd name="connsiteX0" fmla="*/ 0 w 2150533"/>
              <a:gd name="connsiteY0" fmla="*/ 391033 h 391033"/>
              <a:gd name="connsiteX1" fmla="*/ 778933 w 2150533"/>
              <a:gd name="connsiteY1" fmla="*/ 43900 h 391033"/>
              <a:gd name="connsiteX2" fmla="*/ 1236133 w 2150533"/>
              <a:gd name="connsiteY2" fmla="*/ 340233 h 391033"/>
              <a:gd name="connsiteX3" fmla="*/ 1989667 w 2150533"/>
              <a:gd name="connsiteY3" fmla="*/ 43900 h 391033"/>
              <a:gd name="connsiteX4" fmla="*/ 2150533 w 2150533"/>
              <a:gd name="connsiteY4" fmla="*/ 1567 h 39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0533" h="391033">
                <a:moveTo>
                  <a:pt x="0" y="391033"/>
                </a:moveTo>
                <a:cubicBezTo>
                  <a:pt x="286455" y="221700"/>
                  <a:pt x="572911" y="52367"/>
                  <a:pt x="778933" y="43900"/>
                </a:cubicBezTo>
                <a:cubicBezTo>
                  <a:pt x="984955" y="35433"/>
                  <a:pt x="1034344" y="340233"/>
                  <a:pt x="1236133" y="340233"/>
                </a:cubicBezTo>
                <a:cubicBezTo>
                  <a:pt x="1437922" y="340233"/>
                  <a:pt x="1837267" y="100344"/>
                  <a:pt x="1989667" y="43900"/>
                </a:cubicBezTo>
                <a:cubicBezTo>
                  <a:pt x="2142067" y="-12544"/>
                  <a:pt x="2150533" y="1567"/>
                  <a:pt x="2150533" y="1567"/>
                </a:cubicBezTo>
              </a:path>
            </a:pathLst>
          </a:custGeom>
          <a:ln w="3175" cmpd="sng">
            <a:solidFill>
              <a:srgbClr val="182C4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9629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44133" y="2063296"/>
            <a:ext cx="73998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600" dirty="0" smtClean="0">
                <a:solidFill>
                  <a:srgbClr val="FFFFFF"/>
                </a:solidFill>
                <a:latin typeface="+mj-lt"/>
              </a:rPr>
              <a:t>Top Ten Tips For Your Top Ten Customers</a:t>
            </a:r>
            <a:endParaRPr lang="en-US" sz="5600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6429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78001" y="780596"/>
            <a:ext cx="72263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600" b="1" dirty="0" smtClean="0">
                <a:solidFill>
                  <a:srgbClr val="FFFFFF"/>
                </a:solidFill>
                <a:latin typeface="+mj-lt"/>
              </a:rPr>
              <a:t>The First Rule of Business:</a:t>
            </a:r>
          </a:p>
          <a:p>
            <a:pPr algn="ctr"/>
            <a:endParaRPr lang="en-US" sz="5600" dirty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US" sz="4800" dirty="0" smtClean="0">
                <a:solidFill>
                  <a:srgbClr val="FFFFFF"/>
                </a:solidFill>
                <a:latin typeface="+mj-lt"/>
              </a:rPr>
              <a:t>“Look After Your Most Important Customers Before Someone </a:t>
            </a:r>
          </a:p>
          <a:p>
            <a:pPr algn="ctr"/>
            <a:r>
              <a:rPr lang="en-US" sz="4800" dirty="0" smtClean="0">
                <a:solidFill>
                  <a:srgbClr val="FFFFFF"/>
                </a:solidFill>
                <a:latin typeface="+mj-lt"/>
              </a:rPr>
              <a:t>Else Does!”</a:t>
            </a:r>
            <a:endParaRPr lang="en-US" sz="4800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0765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621028" y="836613"/>
            <a:ext cx="5884796" cy="5299836"/>
            <a:chOff x="2621028" y="836613"/>
            <a:chExt cx="5884796" cy="5299836"/>
          </a:xfrm>
        </p:grpSpPr>
        <p:grpSp>
          <p:nvGrpSpPr>
            <p:cNvPr id="4" name="Group 3"/>
            <p:cNvGrpSpPr/>
            <p:nvPr/>
          </p:nvGrpSpPr>
          <p:grpSpPr>
            <a:xfrm>
              <a:off x="3656012" y="1196975"/>
              <a:ext cx="4032250" cy="4175125"/>
              <a:chOff x="3656012" y="1196975"/>
              <a:chExt cx="4032250" cy="4175125"/>
            </a:xfrm>
          </p:grpSpPr>
          <p:sp>
            <p:nvSpPr>
              <p:cNvPr id="32" name="Rectangle 5"/>
              <p:cNvSpPr>
                <a:spLocks noChangeArrowheads="1"/>
              </p:cNvSpPr>
              <p:nvPr/>
            </p:nvSpPr>
            <p:spPr bwMode="auto">
              <a:xfrm>
                <a:off x="3656012" y="1196975"/>
                <a:ext cx="2016125" cy="2087563"/>
              </a:xfrm>
              <a:prstGeom prst="rect">
                <a:avLst/>
              </a:prstGeom>
              <a:solidFill>
                <a:schemeClr val="bg1">
                  <a:alpha val="87842"/>
                </a:schemeClr>
              </a:solidFill>
              <a:ln w="38100">
                <a:solidFill>
                  <a:srgbClr val="1E3A5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Rectangle 6"/>
              <p:cNvSpPr>
                <a:spLocks noChangeArrowheads="1"/>
              </p:cNvSpPr>
              <p:nvPr/>
            </p:nvSpPr>
            <p:spPr bwMode="auto">
              <a:xfrm>
                <a:off x="5672137" y="1196975"/>
                <a:ext cx="2016125" cy="2087563"/>
              </a:xfrm>
              <a:prstGeom prst="rect">
                <a:avLst/>
              </a:prstGeom>
              <a:solidFill>
                <a:srgbClr val="A70A4F"/>
              </a:solidFill>
              <a:ln w="38100">
                <a:solidFill>
                  <a:srgbClr val="1E3A5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Rectangle 7"/>
              <p:cNvSpPr>
                <a:spLocks noChangeArrowheads="1"/>
              </p:cNvSpPr>
              <p:nvPr/>
            </p:nvSpPr>
            <p:spPr bwMode="auto">
              <a:xfrm>
                <a:off x="3656012" y="3284538"/>
                <a:ext cx="2016125" cy="2087562"/>
              </a:xfrm>
              <a:prstGeom prst="rect">
                <a:avLst/>
              </a:prstGeom>
              <a:solidFill>
                <a:schemeClr val="bg1">
                  <a:alpha val="87842"/>
                </a:schemeClr>
              </a:solidFill>
              <a:ln w="38100">
                <a:solidFill>
                  <a:srgbClr val="1E3A5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Rectangle 8"/>
              <p:cNvSpPr>
                <a:spLocks noChangeArrowheads="1"/>
              </p:cNvSpPr>
              <p:nvPr/>
            </p:nvSpPr>
            <p:spPr bwMode="auto">
              <a:xfrm>
                <a:off x="5672137" y="3284538"/>
                <a:ext cx="2016125" cy="2087562"/>
              </a:xfrm>
              <a:prstGeom prst="rect">
                <a:avLst/>
              </a:prstGeom>
              <a:solidFill>
                <a:schemeClr val="bg1">
                  <a:alpha val="87842"/>
                </a:schemeClr>
              </a:solidFill>
              <a:ln w="38100">
                <a:solidFill>
                  <a:srgbClr val="1E3A5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" name="Group 1"/>
            <p:cNvGrpSpPr/>
            <p:nvPr/>
          </p:nvGrpSpPr>
          <p:grpSpPr>
            <a:xfrm>
              <a:off x="2857499" y="5508625"/>
              <a:ext cx="5648325" cy="627824"/>
              <a:chOff x="2857499" y="5508625"/>
              <a:chExt cx="5648325" cy="627824"/>
            </a:xfrm>
          </p:grpSpPr>
          <p:sp>
            <p:nvSpPr>
              <p:cNvPr id="36" name="Line 9"/>
              <p:cNvSpPr>
                <a:spLocks noChangeShapeType="1"/>
              </p:cNvSpPr>
              <p:nvPr/>
            </p:nvSpPr>
            <p:spPr bwMode="auto">
              <a:xfrm>
                <a:off x="3656012" y="5684838"/>
                <a:ext cx="4033837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en-GB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Text Box 11"/>
              <p:cNvSpPr txBox="1">
                <a:spLocks noChangeArrowheads="1"/>
              </p:cNvSpPr>
              <p:nvPr/>
            </p:nvSpPr>
            <p:spPr bwMode="auto">
              <a:xfrm>
                <a:off x="2857499" y="5508625"/>
                <a:ext cx="862013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FFFFFF"/>
                    </a:solidFill>
                  </a:rPr>
                  <a:t>POOR</a:t>
                </a:r>
              </a:p>
            </p:txBody>
          </p:sp>
          <p:sp>
            <p:nvSpPr>
              <p:cNvPr id="40" name="Text Box 13"/>
              <p:cNvSpPr txBox="1">
                <a:spLocks noChangeArrowheads="1"/>
              </p:cNvSpPr>
              <p:nvPr/>
            </p:nvSpPr>
            <p:spPr bwMode="auto">
              <a:xfrm>
                <a:off x="7681912" y="5508625"/>
                <a:ext cx="823912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FFFFFF"/>
                    </a:solidFill>
                  </a:rPr>
                  <a:t>GOOD</a:t>
                </a:r>
              </a:p>
            </p:txBody>
          </p:sp>
          <p:sp>
            <p:nvSpPr>
              <p:cNvPr id="47" name="Text Box 20"/>
              <p:cNvSpPr txBox="1">
                <a:spLocks noChangeArrowheads="1"/>
              </p:cNvSpPr>
              <p:nvPr/>
            </p:nvSpPr>
            <p:spPr bwMode="auto">
              <a:xfrm>
                <a:off x="3552824" y="5674784"/>
                <a:ext cx="388937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2400" b="1" dirty="0" smtClean="0">
                    <a:solidFill>
                      <a:srgbClr val="FFFFFF"/>
                    </a:solidFill>
                  </a:rPr>
                  <a:t>Relationships</a:t>
                </a:r>
                <a:endParaRPr lang="en-GB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2621028" y="836613"/>
              <a:ext cx="1084196" cy="4535487"/>
              <a:chOff x="2621028" y="836613"/>
              <a:chExt cx="1084196" cy="4535487"/>
            </a:xfrm>
          </p:grpSpPr>
          <p:sp>
            <p:nvSpPr>
              <p:cNvPr id="37" name="Line 10"/>
              <p:cNvSpPr>
                <a:spLocks noChangeShapeType="1"/>
              </p:cNvSpPr>
              <p:nvPr/>
            </p:nvSpPr>
            <p:spPr bwMode="auto">
              <a:xfrm flipV="1">
                <a:off x="3295649" y="1195388"/>
                <a:ext cx="0" cy="4176712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en-GB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Text Box 12"/>
              <p:cNvSpPr txBox="1">
                <a:spLocks noChangeArrowheads="1"/>
              </p:cNvSpPr>
              <p:nvPr/>
            </p:nvSpPr>
            <p:spPr bwMode="auto">
              <a:xfrm>
                <a:off x="2857499" y="836613"/>
                <a:ext cx="847725" cy="5847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600" b="1" dirty="0" smtClean="0">
                    <a:solidFill>
                      <a:srgbClr val="FFFFFF"/>
                    </a:solidFill>
                  </a:rPr>
                  <a:t>GOOD</a:t>
                </a:r>
              </a:p>
              <a:p>
                <a:pPr algn="ctr"/>
                <a:endParaRPr lang="en-GB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Text Box 12"/>
              <p:cNvSpPr txBox="1">
                <a:spLocks noChangeArrowheads="1"/>
              </p:cNvSpPr>
              <p:nvPr/>
            </p:nvSpPr>
            <p:spPr bwMode="auto">
              <a:xfrm rot="16200000">
                <a:off x="1204624" y="2965798"/>
                <a:ext cx="3663806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400" b="1" dirty="0" smtClean="0">
                    <a:solidFill>
                      <a:srgbClr val="FFFFFF"/>
                    </a:solidFill>
                  </a:rPr>
                  <a:t>Business Understanding</a:t>
                </a:r>
              </a:p>
              <a:p>
                <a:pPr algn="ctr"/>
                <a:endParaRPr lang="en-GB" sz="24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3982808" y="1979613"/>
            <a:ext cx="13942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2400" b="1" dirty="0">
                <a:solidFill>
                  <a:srgbClr val="182C4C"/>
                </a:solidFill>
              </a:rPr>
              <a:t>SUPPLIER</a:t>
            </a:r>
          </a:p>
        </p:txBody>
      </p:sp>
      <p:sp>
        <p:nvSpPr>
          <p:cNvPr id="42" name="Rectangle 15"/>
          <p:cNvSpPr>
            <a:spLocks noChangeArrowheads="1"/>
          </p:cNvSpPr>
          <p:nvPr/>
        </p:nvSpPr>
        <p:spPr bwMode="auto">
          <a:xfrm>
            <a:off x="5813424" y="1979613"/>
            <a:ext cx="17049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2400" b="1" dirty="0" smtClean="0">
                <a:solidFill>
                  <a:schemeClr val="bg1"/>
                </a:solidFill>
              </a:rPr>
              <a:t>PARTNER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43" name="Rectangle 16"/>
          <p:cNvSpPr>
            <a:spLocks noChangeArrowheads="1"/>
          </p:cNvSpPr>
          <p:nvPr/>
        </p:nvSpPr>
        <p:spPr bwMode="auto">
          <a:xfrm>
            <a:off x="3784599" y="4113213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2400" b="1" dirty="0">
                <a:solidFill>
                  <a:srgbClr val="182C4C"/>
                </a:solidFill>
              </a:rPr>
              <a:t>OUTSIDER</a:t>
            </a:r>
          </a:p>
        </p:txBody>
      </p:sp>
      <p:sp>
        <p:nvSpPr>
          <p:cNvPr id="44" name="Rectangle 17"/>
          <p:cNvSpPr>
            <a:spLocks noChangeArrowheads="1"/>
          </p:cNvSpPr>
          <p:nvPr/>
        </p:nvSpPr>
        <p:spPr bwMode="auto">
          <a:xfrm>
            <a:off x="5859462" y="4113213"/>
            <a:ext cx="1582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2400" b="1" dirty="0">
                <a:solidFill>
                  <a:srgbClr val="182C4C"/>
                </a:solidFill>
              </a:rPr>
              <a:t>FRIEND</a:t>
            </a:r>
          </a:p>
        </p:txBody>
      </p:sp>
    </p:spTree>
    <p:extLst>
      <p:ext uri="{BB962C8B-B14F-4D97-AF65-F5344CB8AC3E}">
        <p14:creationId xmlns="" xmlns:p14="http://schemas.microsoft.com/office/powerpoint/2010/main" val="55601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48375" y="0"/>
            <a:ext cx="7395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FFFFFF"/>
                </a:solidFill>
                <a:latin typeface="+mj-lt"/>
              </a:rPr>
              <a:t>Partnership Indicators</a:t>
            </a:r>
            <a:endParaRPr lang="en-US" sz="4800" b="1" dirty="0">
              <a:solidFill>
                <a:srgbClr val="FFFFFF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855937859"/>
              </p:ext>
            </p:extLst>
          </p:nvPr>
        </p:nvGraphicFramePr>
        <p:xfrm>
          <a:off x="2998788" y="990594"/>
          <a:ext cx="4494212" cy="5804835"/>
        </p:xfrm>
        <a:graphic>
          <a:graphicData uri="http://schemas.openxmlformats.org/presentationml/2006/ole">
            <p:oleObj spid="_x0000_s1065" name="Document" r:id="rId3" imgW="5486198" imgH="7086339" progId="Word.Document.12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236275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7042" y="254001"/>
            <a:ext cx="658282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300" b="1" dirty="0" smtClean="0">
                <a:solidFill>
                  <a:srgbClr val="FFFFFF"/>
                </a:solidFill>
                <a:latin typeface="+mj-lt"/>
              </a:rPr>
              <a:t>The Value Staircase</a:t>
            </a:r>
            <a:endParaRPr lang="en-US" sz="5300" b="1" dirty="0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 rot="5400000" flipH="1" flipV="1">
            <a:off x="2489730" y="5065713"/>
            <a:ext cx="7493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 bwMode="auto">
          <a:xfrm rot="10800000" flipH="1" flipV="1">
            <a:off x="2823105" y="4693709"/>
            <a:ext cx="9001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 bwMode="auto">
          <a:xfrm rot="5400000" flipH="1" flipV="1">
            <a:off x="3317610" y="4315620"/>
            <a:ext cx="74771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 rot="10800000" flipH="1" flipV="1">
            <a:off x="3651780" y="3910013"/>
            <a:ext cx="9001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 rot="5400000" flipH="1" flipV="1">
            <a:off x="4135967" y="3565526"/>
            <a:ext cx="7493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 rot="10800000" flipH="1" flipV="1">
            <a:off x="4477280" y="3159126"/>
            <a:ext cx="9001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 rot="5400000" flipH="1" flipV="1">
            <a:off x="4966497" y="2765692"/>
            <a:ext cx="7477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auto">
          <a:xfrm rot="10800000" flipH="1" flipV="1">
            <a:off x="5299605" y="2409826"/>
            <a:ext cx="360045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2151589" y="4691063"/>
            <a:ext cx="6769103" cy="736600"/>
            <a:chOff x="2151589" y="4691063"/>
            <a:chExt cx="6769103" cy="736600"/>
          </a:xfrm>
        </p:grpSpPr>
        <p:sp>
          <p:nvSpPr>
            <p:cNvPr id="6" name="Rectangle 5"/>
            <p:cNvSpPr/>
            <p:nvPr/>
          </p:nvSpPr>
          <p:spPr>
            <a:xfrm>
              <a:off x="2899305" y="4691063"/>
              <a:ext cx="6021387" cy="7366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48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GB" sz="4200" b="1" dirty="0" smtClean="0">
                  <a:solidFill>
                    <a:schemeClr val="bg1"/>
                  </a:solidFill>
                </a:rPr>
                <a:t>Identifiable</a:t>
              </a:r>
              <a:endParaRPr lang="en-GB" sz="4200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151589" y="4749799"/>
              <a:ext cx="620713" cy="643996"/>
            </a:xfrm>
            <a:prstGeom prst="ellipse">
              <a:avLst/>
            </a:prstGeom>
            <a:solidFill>
              <a:srgbClr val="A70A4F"/>
            </a:solidFill>
            <a:ln>
              <a:solidFill>
                <a:srgbClr val="5105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500" b="1" dirty="0" smtClean="0">
                  <a:solidFill>
                    <a:schemeClr val="bg1"/>
                  </a:solidFill>
                </a:rPr>
                <a:t>1</a:t>
              </a:r>
              <a:endParaRPr lang="en-US" sz="35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005667" y="3910541"/>
            <a:ext cx="5094810" cy="768299"/>
            <a:chOff x="3005667" y="3910541"/>
            <a:chExt cx="5094810" cy="768299"/>
          </a:xfrm>
        </p:grpSpPr>
        <p:sp>
          <p:nvSpPr>
            <p:cNvPr id="26" name="Oval 25"/>
            <p:cNvSpPr/>
            <p:nvPr/>
          </p:nvSpPr>
          <p:spPr>
            <a:xfrm>
              <a:off x="3005667" y="3910541"/>
              <a:ext cx="585687" cy="643996"/>
            </a:xfrm>
            <a:prstGeom prst="ellipse">
              <a:avLst/>
            </a:prstGeom>
            <a:solidFill>
              <a:srgbClr val="A70A4F"/>
            </a:solidFill>
            <a:ln>
              <a:solidFill>
                <a:srgbClr val="5105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500" b="1" dirty="0" smtClean="0">
                  <a:solidFill>
                    <a:schemeClr val="bg1"/>
                  </a:solidFill>
                </a:rPr>
                <a:t>2</a:t>
              </a:r>
              <a:endParaRPr lang="en-US" sz="35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738027" y="3942240"/>
              <a:ext cx="4362450" cy="7366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48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GB" sz="4200" b="1" dirty="0" smtClean="0">
                  <a:solidFill>
                    <a:schemeClr val="bg1"/>
                  </a:solidFill>
                </a:rPr>
                <a:t>Quantifiable</a:t>
              </a:r>
              <a:endParaRPr lang="en-GB" sz="4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794123" y="3161241"/>
            <a:ext cx="5123918" cy="778353"/>
            <a:chOff x="3794123" y="3161241"/>
            <a:chExt cx="5123918" cy="778353"/>
          </a:xfrm>
        </p:grpSpPr>
        <p:sp>
          <p:nvSpPr>
            <p:cNvPr id="27" name="Oval 26"/>
            <p:cNvSpPr/>
            <p:nvPr/>
          </p:nvSpPr>
          <p:spPr>
            <a:xfrm>
              <a:off x="3794123" y="3161241"/>
              <a:ext cx="620713" cy="643996"/>
            </a:xfrm>
            <a:prstGeom prst="ellipse">
              <a:avLst/>
            </a:prstGeom>
            <a:solidFill>
              <a:srgbClr val="A70A4F"/>
            </a:solidFill>
            <a:ln>
              <a:solidFill>
                <a:srgbClr val="5105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500" b="1" dirty="0" smtClean="0">
                  <a:solidFill>
                    <a:schemeClr val="bg1"/>
                  </a:solidFill>
                </a:rPr>
                <a:t>3</a:t>
              </a:r>
              <a:endParaRPr lang="en-US" sz="35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55591" y="3202994"/>
              <a:ext cx="4362450" cy="7366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48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GB" sz="4200" b="1" dirty="0" smtClean="0">
                  <a:solidFill>
                    <a:schemeClr val="bg1"/>
                  </a:solidFill>
                </a:rPr>
                <a:t>Auditable</a:t>
              </a:r>
              <a:endParaRPr lang="en-GB" sz="4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611156" y="2424642"/>
            <a:ext cx="5128686" cy="761418"/>
            <a:chOff x="4611156" y="2424642"/>
            <a:chExt cx="5128686" cy="761418"/>
          </a:xfrm>
        </p:grpSpPr>
        <p:sp>
          <p:nvSpPr>
            <p:cNvPr id="28" name="Oval 27"/>
            <p:cNvSpPr/>
            <p:nvPr/>
          </p:nvSpPr>
          <p:spPr>
            <a:xfrm>
              <a:off x="4611156" y="2424642"/>
              <a:ext cx="620713" cy="643996"/>
            </a:xfrm>
            <a:prstGeom prst="ellipse">
              <a:avLst/>
            </a:prstGeom>
            <a:solidFill>
              <a:srgbClr val="A70A4F"/>
            </a:solidFill>
            <a:ln>
              <a:solidFill>
                <a:srgbClr val="5105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500" b="1" dirty="0" smtClean="0">
                  <a:solidFill>
                    <a:schemeClr val="bg1"/>
                  </a:solidFill>
                </a:rPr>
                <a:t>4</a:t>
              </a:r>
              <a:endParaRPr lang="en-US" sz="35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377392" y="2449460"/>
              <a:ext cx="4362450" cy="7366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48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GB" sz="4200" b="1" dirty="0" smtClean="0">
                  <a:solidFill>
                    <a:schemeClr val="bg1"/>
                  </a:solidFill>
                </a:rPr>
                <a:t>Priceless</a:t>
              </a:r>
              <a:endParaRPr lang="en-GB" sz="42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36275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7042" y="254001"/>
            <a:ext cx="658282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300" b="1" dirty="0" smtClean="0">
                <a:solidFill>
                  <a:srgbClr val="FFFFFF"/>
                </a:solidFill>
                <a:latin typeface="+mj-lt"/>
              </a:rPr>
              <a:t>Audit Questions</a:t>
            </a:r>
            <a:endParaRPr lang="en-US" sz="53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0333" y="2799435"/>
            <a:ext cx="73236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What unresolved issues are there?</a:t>
            </a:r>
          </a:p>
          <a:p>
            <a:pPr marL="514350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How do we compare to other suppliers?</a:t>
            </a:r>
          </a:p>
          <a:p>
            <a:pPr marL="971550" lvl="1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In our industry?</a:t>
            </a:r>
          </a:p>
          <a:p>
            <a:pPr marL="971550" lvl="1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All others?</a:t>
            </a:r>
          </a:p>
          <a:p>
            <a:pPr marL="514350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How would you sum us up in a sentence?</a:t>
            </a:r>
          </a:p>
          <a:p>
            <a:pPr marL="514350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How many marks out of ten?</a:t>
            </a:r>
          </a:p>
          <a:p>
            <a:pPr marL="514350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If we were an animal or bird what would we be?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6106" y="1717645"/>
            <a:ext cx="7323667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Where are we meeting your expectations?</a:t>
            </a:r>
          </a:p>
          <a:p>
            <a:pPr marL="514350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Where are we exceeding expectations?</a:t>
            </a:r>
          </a:p>
          <a:p>
            <a:pPr marL="514350" indent="-514350">
              <a:buFont typeface="Arial"/>
              <a:buChar char="•"/>
            </a:pPr>
            <a:r>
              <a:rPr lang="en-US" sz="2400" dirty="0" smtClean="0">
                <a:solidFill>
                  <a:srgbClr val="FFFFFF"/>
                </a:solidFill>
                <a:latin typeface="+mj-lt"/>
              </a:rPr>
              <a:t>Where are we falling short?</a:t>
            </a:r>
          </a:p>
        </p:txBody>
      </p:sp>
    </p:spTree>
    <p:extLst>
      <p:ext uri="{BB962C8B-B14F-4D97-AF65-F5344CB8AC3E}">
        <p14:creationId xmlns="" xmlns:p14="http://schemas.microsoft.com/office/powerpoint/2010/main" val="65726841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786467" y="376374"/>
            <a:ext cx="72898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FFFFFF"/>
                </a:solidFill>
              </a:rPr>
              <a:t>How do you ensure that you </a:t>
            </a:r>
            <a:r>
              <a:rPr lang="en-GB" sz="2800" b="1" dirty="0" smtClean="0">
                <a:solidFill>
                  <a:srgbClr val="FFFFFF"/>
                </a:solidFill>
              </a:rPr>
              <a:t>exceed the </a:t>
            </a:r>
          </a:p>
          <a:p>
            <a:pPr algn="ctr"/>
            <a:r>
              <a:rPr lang="en-GB" sz="2800" b="1" dirty="0" smtClean="0">
                <a:solidFill>
                  <a:srgbClr val="FFFFFF"/>
                </a:solidFill>
              </a:rPr>
              <a:t>key account’s </a:t>
            </a:r>
            <a:r>
              <a:rPr lang="en-GB" sz="2800" b="1" dirty="0">
                <a:solidFill>
                  <a:srgbClr val="FFFFFF"/>
                </a:solidFill>
              </a:rPr>
              <a:t>expectations at each stage?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7" y="2260600"/>
            <a:ext cx="7115888" cy="4102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0" y="3035300"/>
            <a:ext cx="241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A5196"/>
                </a:solidFill>
              </a:rPr>
              <a:t>Enquiry</a:t>
            </a:r>
            <a:endParaRPr lang="en-US" sz="2400" b="1" dirty="0">
              <a:solidFill>
                <a:srgbClr val="2A519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92300" y="3708400"/>
            <a:ext cx="241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A5196"/>
                </a:solidFill>
              </a:rPr>
              <a:t>Check-In</a:t>
            </a:r>
            <a:endParaRPr lang="en-US" sz="2400" b="1" dirty="0">
              <a:solidFill>
                <a:srgbClr val="2A5196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92300" y="4394200"/>
            <a:ext cx="241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A5196"/>
                </a:solidFill>
              </a:rPr>
              <a:t>Room</a:t>
            </a:r>
            <a:endParaRPr lang="en-US" sz="2400" b="1" dirty="0">
              <a:solidFill>
                <a:srgbClr val="2A5196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92300" y="5083770"/>
            <a:ext cx="241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A5196"/>
                </a:solidFill>
              </a:rPr>
              <a:t>Bar &amp; Restaurant</a:t>
            </a:r>
            <a:endParaRPr lang="en-US" sz="2400" b="1" dirty="0">
              <a:solidFill>
                <a:srgbClr val="2A519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92300" y="5769570"/>
            <a:ext cx="241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A5196"/>
                </a:solidFill>
              </a:rPr>
              <a:t>Check-Out</a:t>
            </a:r>
            <a:endParaRPr lang="en-US" sz="2400" b="1" dirty="0">
              <a:solidFill>
                <a:srgbClr val="2A5196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2628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3"/>
          <p:cNvGrpSpPr>
            <a:grpSpLocks/>
          </p:cNvGrpSpPr>
          <p:nvPr/>
        </p:nvGrpSpPr>
        <p:grpSpPr bwMode="auto">
          <a:xfrm>
            <a:off x="1842309" y="2743440"/>
            <a:ext cx="2305380" cy="2233490"/>
            <a:chOff x="381" y="1429"/>
            <a:chExt cx="1920" cy="1595"/>
          </a:xfrm>
        </p:grpSpPr>
        <p:sp>
          <p:nvSpPr>
            <p:cNvPr id="10" name="AutoShape 14"/>
            <p:cNvSpPr>
              <a:spLocks noChangeArrowheads="1"/>
            </p:cNvSpPr>
            <p:nvPr/>
          </p:nvSpPr>
          <p:spPr bwMode="auto">
            <a:xfrm>
              <a:off x="930" y="1440"/>
              <a:ext cx="822" cy="673"/>
            </a:xfrm>
            <a:prstGeom prst="triangle">
              <a:avLst>
                <a:gd name="adj" fmla="val 50000"/>
              </a:avLst>
            </a:prstGeom>
            <a:solidFill>
              <a:srgbClr val="4F1335">
                <a:alpha val="30980"/>
              </a:srgb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1" name="AutoShape 15"/>
            <p:cNvSpPr>
              <a:spLocks noChangeArrowheads="1"/>
            </p:cNvSpPr>
            <p:nvPr/>
          </p:nvSpPr>
          <p:spPr bwMode="auto">
            <a:xfrm flipV="1">
              <a:off x="655" y="2113"/>
              <a:ext cx="1372" cy="4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967 w 21600"/>
                <a:gd name="T13" fmla="*/ 3956 h 21600"/>
                <a:gd name="T14" fmla="*/ 17633 w 21600"/>
                <a:gd name="T15" fmla="*/ 1764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4332" y="21600"/>
                  </a:lnTo>
                  <a:lnTo>
                    <a:pt x="172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72022A">
                <a:alpha val="50195"/>
              </a:srgb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2" name="AutoShape 16"/>
            <p:cNvSpPr>
              <a:spLocks noChangeArrowheads="1"/>
            </p:cNvSpPr>
            <p:nvPr/>
          </p:nvSpPr>
          <p:spPr bwMode="auto">
            <a:xfrm flipV="1">
              <a:off x="381" y="2588"/>
              <a:ext cx="1920" cy="4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53 w 21600"/>
                <a:gd name="T13" fmla="*/ 3369 h 21600"/>
                <a:gd name="T14" fmla="*/ 18248 w 21600"/>
                <a:gd name="T15" fmla="*/ 182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113" y="21600"/>
                  </a:lnTo>
                  <a:lnTo>
                    <a:pt x="1848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72022A">
                <a:alpha val="74117"/>
              </a:srgb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3" name="AutoShape 17"/>
            <p:cNvSpPr>
              <a:spLocks noChangeArrowheads="1"/>
            </p:cNvSpPr>
            <p:nvPr/>
          </p:nvSpPr>
          <p:spPr bwMode="auto">
            <a:xfrm>
              <a:off x="381" y="1429"/>
              <a:ext cx="1920" cy="1584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4" name="Group 18"/>
          <p:cNvGrpSpPr>
            <a:grpSpLocks/>
          </p:cNvGrpSpPr>
          <p:nvPr/>
        </p:nvGrpSpPr>
        <p:grpSpPr bwMode="auto">
          <a:xfrm>
            <a:off x="6723871" y="2760902"/>
            <a:ext cx="2305380" cy="2233491"/>
            <a:chOff x="381" y="1429"/>
            <a:chExt cx="1920" cy="1595"/>
          </a:xfrm>
        </p:grpSpPr>
        <p:sp>
          <p:nvSpPr>
            <p:cNvPr id="15" name="AutoShape 19"/>
            <p:cNvSpPr>
              <a:spLocks noChangeArrowheads="1"/>
            </p:cNvSpPr>
            <p:nvPr/>
          </p:nvSpPr>
          <p:spPr bwMode="auto">
            <a:xfrm>
              <a:off x="930" y="1440"/>
              <a:ext cx="822" cy="673"/>
            </a:xfrm>
            <a:prstGeom prst="triangle">
              <a:avLst>
                <a:gd name="adj" fmla="val 50000"/>
              </a:avLst>
            </a:prstGeom>
            <a:solidFill>
              <a:srgbClr val="4F1335">
                <a:alpha val="30980"/>
              </a:srgb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6" name="AutoShape 20"/>
            <p:cNvSpPr>
              <a:spLocks noChangeArrowheads="1"/>
            </p:cNvSpPr>
            <p:nvPr/>
          </p:nvSpPr>
          <p:spPr bwMode="auto">
            <a:xfrm flipV="1">
              <a:off x="655" y="2113"/>
              <a:ext cx="1372" cy="4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967 w 21600"/>
                <a:gd name="T13" fmla="*/ 3956 h 21600"/>
                <a:gd name="T14" fmla="*/ 17633 w 21600"/>
                <a:gd name="T15" fmla="*/ 1764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4332" y="21600"/>
                  </a:lnTo>
                  <a:lnTo>
                    <a:pt x="172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72022A">
                <a:alpha val="50195"/>
              </a:srgb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7" name="AutoShape 21"/>
            <p:cNvSpPr>
              <a:spLocks noChangeArrowheads="1"/>
            </p:cNvSpPr>
            <p:nvPr/>
          </p:nvSpPr>
          <p:spPr bwMode="auto">
            <a:xfrm flipV="1">
              <a:off x="381" y="2588"/>
              <a:ext cx="1920" cy="4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53 w 21600"/>
                <a:gd name="T13" fmla="*/ 3369 h 21600"/>
                <a:gd name="T14" fmla="*/ 18248 w 21600"/>
                <a:gd name="T15" fmla="*/ 182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113" y="21600"/>
                  </a:lnTo>
                  <a:lnTo>
                    <a:pt x="1848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72022A">
                <a:alpha val="74117"/>
              </a:srgb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8" name="AutoShape 22"/>
            <p:cNvSpPr>
              <a:spLocks noChangeArrowheads="1"/>
            </p:cNvSpPr>
            <p:nvPr/>
          </p:nvSpPr>
          <p:spPr bwMode="auto">
            <a:xfrm>
              <a:off x="381" y="1429"/>
              <a:ext cx="1920" cy="1584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9" name="Line 5"/>
          <p:cNvSpPr>
            <a:spLocks noChangeShapeType="1"/>
          </p:cNvSpPr>
          <p:nvPr/>
        </p:nvSpPr>
        <p:spPr bwMode="auto">
          <a:xfrm flipV="1">
            <a:off x="3922454" y="3607039"/>
            <a:ext cx="3376421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arrow" w="med" len="med"/>
            <a:tailEnd type="arrow" w="med" len="me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4291942" y="4975465"/>
            <a:ext cx="2290971" cy="139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arrow" w="med" len="med"/>
            <a:tailEnd type="arrow" w="med" len="me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3836085" y="3751501"/>
            <a:ext cx="2886528" cy="82478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arrow" w="med" len="med"/>
            <a:tailEnd type="arrow" w="med" len="me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Line 8"/>
          <p:cNvSpPr>
            <a:spLocks noChangeShapeType="1"/>
          </p:cNvSpPr>
          <p:nvPr/>
        </p:nvSpPr>
        <p:spPr bwMode="auto">
          <a:xfrm>
            <a:off x="4069777" y="4326176"/>
            <a:ext cx="2941761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arrow" w="med" len="med"/>
            <a:tailEnd type="arrow" w="med" len="me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 flipH="1">
            <a:off x="4323117" y="3751501"/>
            <a:ext cx="2831295" cy="82478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arrow" w="med" len="med"/>
            <a:tailEnd type="arrow" w="med" len="me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Line 10"/>
          <p:cNvSpPr>
            <a:spLocks noChangeShapeType="1"/>
          </p:cNvSpPr>
          <p:nvPr/>
        </p:nvSpPr>
        <p:spPr bwMode="auto">
          <a:xfrm>
            <a:off x="3981978" y="4110277"/>
            <a:ext cx="2669197" cy="63574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arrow" w="med" len="med"/>
            <a:tailEnd type="arrow" w="med" len="me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 flipV="1">
            <a:off x="4288308" y="4110276"/>
            <a:ext cx="2723230" cy="63574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arrow" w="med" len="med"/>
            <a:tailEnd type="arrow" w="med" len="me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120171" y="1214243"/>
            <a:ext cx="1950596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schemeClr val="bg1"/>
                </a:solidFill>
                <a:latin typeface="+mj-lt"/>
              </a:rPr>
              <a:t>Your</a:t>
            </a:r>
          </a:p>
          <a:p>
            <a:pPr algn="ctr"/>
            <a:r>
              <a:rPr lang="en-GB" sz="3200" b="1" dirty="0" smtClean="0">
                <a:solidFill>
                  <a:schemeClr val="bg1"/>
                </a:solidFill>
                <a:latin typeface="+mj-lt"/>
              </a:rPr>
              <a:t>Company</a:t>
            </a:r>
            <a:endParaRPr lang="en-GB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998938" y="1214243"/>
            <a:ext cx="1950596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schemeClr val="bg1"/>
                </a:solidFill>
                <a:latin typeface="+mj-lt"/>
              </a:rPr>
              <a:t>Key</a:t>
            </a:r>
          </a:p>
          <a:p>
            <a:pPr algn="ctr"/>
            <a:r>
              <a:rPr lang="en-GB" sz="3200" b="1" dirty="0" smtClean="0">
                <a:solidFill>
                  <a:schemeClr val="bg1"/>
                </a:solidFill>
                <a:latin typeface="+mj-lt"/>
              </a:rPr>
              <a:t>Account</a:t>
            </a:r>
            <a:endParaRPr lang="en-GB" sz="32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398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5278017"/>
              </p:ext>
            </p:extLst>
          </p:nvPr>
        </p:nvGraphicFramePr>
        <p:xfrm>
          <a:off x="1888065" y="1930399"/>
          <a:ext cx="7045910" cy="391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182"/>
                <a:gridCol w="1409182"/>
                <a:gridCol w="1409182"/>
                <a:gridCol w="1409182"/>
                <a:gridCol w="1409182"/>
              </a:tblGrid>
              <a:tr h="350821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rgbClr val="1E3A58"/>
                          </a:solidFill>
                          <a:latin typeface="+mn-lt"/>
                          <a:cs typeface="Times New Roman" pitchFamily="18" charset="0"/>
                        </a:rPr>
                        <a:t>Monday</a:t>
                      </a:r>
                      <a:endParaRPr lang="en-GB" dirty="0">
                        <a:solidFill>
                          <a:srgbClr val="1E3A58"/>
                        </a:solidFill>
                        <a:latin typeface="+mn-lt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rgbClr val="1E3A58"/>
                          </a:solidFill>
                          <a:latin typeface="+mn-lt"/>
                          <a:cs typeface="Times New Roman" pitchFamily="18" charset="0"/>
                        </a:rPr>
                        <a:t>Tuesday</a:t>
                      </a:r>
                      <a:endParaRPr lang="en-GB" dirty="0">
                        <a:solidFill>
                          <a:srgbClr val="1E3A58"/>
                        </a:solidFill>
                        <a:latin typeface="+mn-lt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rgbClr val="1E3A58"/>
                          </a:solidFill>
                          <a:latin typeface="+mn-lt"/>
                          <a:cs typeface="Times New Roman" pitchFamily="18" charset="0"/>
                        </a:rPr>
                        <a:t>Wednesday</a:t>
                      </a:r>
                      <a:endParaRPr lang="en-GB" dirty="0">
                        <a:solidFill>
                          <a:srgbClr val="1E3A58"/>
                        </a:solidFill>
                        <a:latin typeface="+mn-lt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rgbClr val="1E3A58"/>
                          </a:solidFill>
                          <a:latin typeface="+mj-lt"/>
                          <a:cs typeface="Times New Roman" pitchFamily="18" charset="0"/>
                        </a:rPr>
                        <a:t>Thursday</a:t>
                      </a:r>
                      <a:endParaRPr lang="en-GB" dirty="0">
                        <a:solidFill>
                          <a:srgbClr val="1E3A58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rgbClr val="1E3A58"/>
                          </a:solidFill>
                          <a:latin typeface="+mn-lt"/>
                          <a:cs typeface="Times New Roman" pitchFamily="18" charset="0"/>
                        </a:rPr>
                        <a:t>Friday</a:t>
                      </a:r>
                      <a:endParaRPr lang="en-GB" dirty="0">
                        <a:solidFill>
                          <a:srgbClr val="1E3A58"/>
                        </a:solidFill>
                        <a:latin typeface="+mn-lt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588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1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2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3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4</a:t>
                      </a:r>
                    </a:p>
                    <a:p>
                      <a:r>
                        <a:rPr lang="en-GB" sz="1400" b="1" dirty="0" smtClean="0">
                          <a:effectLst>
                            <a:glow rad="228600">
                              <a:srgbClr val="FFFF00">
                                <a:alpha val="40000"/>
                              </a:srgbClr>
                            </a:glow>
                          </a:effectLst>
                          <a:latin typeface="+mn-lt"/>
                        </a:rPr>
                        <a:t>TEAM KAMDAY</a:t>
                      </a:r>
                      <a:endParaRPr lang="en-GB" sz="1400" b="1" dirty="0">
                        <a:effectLst>
                          <a:glow rad="228600">
                            <a:srgbClr val="FFFF00">
                              <a:alpha val="40000"/>
                            </a:srgb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5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641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8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9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10</a:t>
                      </a:r>
                    </a:p>
                    <a:p>
                      <a:r>
                        <a:rPr lang="en-GB" sz="1400" b="1" dirty="0" smtClean="0">
                          <a:effectLst>
                            <a:glow rad="228600">
                              <a:srgbClr val="0070C0">
                                <a:alpha val="40000"/>
                              </a:srgbClr>
                            </a:glow>
                          </a:effectLst>
                          <a:latin typeface="+mn-lt"/>
                        </a:rPr>
                        <a:t>SALES DIR AVAILABLE</a:t>
                      </a:r>
                      <a:endParaRPr lang="en-GB" sz="1400" b="1" dirty="0">
                        <a:effectLst>
                          <a:glow rad="228600">
                            <a:srgbClr val="0070C0">
                              <a:alpha val="40000"/>
                            </a:srgb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11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12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588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15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16</a:t>
                      </a:r>
                    </a:p>
                    <a:p>
                      <a:r>
                        <a:rPr lang="en-GB" sz="1400" b="1" dirty="0" smtClean="0">
                          <a:effectLst>
                            <a:glow rad="228600">
                              <a:srgbClr val="FFFF00">
                                <a:alpha val="40000"/>
                              </a:srgbClr>
                            </a:glow>
                          </a:effectLst>
                          <a:latin typeface="+mn-lt"/>
                        </a:rPr>
                        <a:t>TEAM KAMDAY</a:t>
                      </a:r>
                      <a:endParaRPr lang="en-GB" sz="1400" b="1" dirty="0">
                        <a:effectLst>
                          <a:glow rad="228600">
                            <a:srgbClr val="FFFF00">
                              <a:alpha val="40000"/>
                            </a:srgb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17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18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19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641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22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23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24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25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26</a:t>
                      </a:r>
                    </a:p>
                    <a:p>
                      <a:r>
                        <a:rPr lang="en-GB" sz="1400" b="1" dirty="0" smtClean="0">
                          <a:effectLst>
                            <a:glow rad="228600">
                              <a:srgbClr val="0070C0">
                                <a:alpha val="40000"/>
                              </a:srgbClr>
                            </a:glow>
                          </a:effectLst>
                          <a:latin typeface="+mn-lt"/>
                        </a:rPr>
                        <a:t>SALES DIR AVAILABLE</a:t>
                      </a:r>
                      <a:endParaRPr lang="en-GB" sz="1400" b="1" dirty="0">
                        <a:effectLst>
                          <a:glow rad="228600">
                            <a:srgbClr val="0070C0">
                              <a:alpha val="40000"/>
                            </a:srgb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588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29</a:t>
                      </a:r>
                    </a:p>
                    <a:p>
                      <a:r>
                        <a:rPr lang="en-GB" sz="1400" b="1" dirty="0" smtClean="0">
                          <a:effectLst>
                            <a:glow rad="228600">
                              <a:srgbClr val="00B050">
                                <a:alpha val="40000"/>
                              </a:srgbClr>
                            </a:glow>
                          </a:effectLst>
                          <a:latin typeface="+mn-lt"/>
                        </a:rPr>
                        <a:t>CEO K/A AUDIT</a:t>
                      </a:r>
                      <a:endParaRPr lang="en-GB" sz="1400" b="1" dirty="0">
                        <a:effectLst>
                          <a:glow rad="228600">
                            <a:srgbClr val="00B050">
                              <a:alpha val="40000"/>
                            </a:srgb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30</a:t>
                      </a:r>
                    </a:p>
                    <a:p>
                      <a:r>
                        <a:rPr lang="en-GB" sz="1400" b="1" dirty="0" smtClean="0">
                          <a:effectLst>
                            <a:glow rad="228600">
                              <a:srgbClr val="00B050">
                                <a:alpha val="40000"/>
                              </a:srgbClr>
                            </a:glow>
                          </a:effectLst>
                          <a:latin typeface="+mn-lt"/>
                        </a:rPr>
                        <a:t>CEO AVAILABLE</a:t>
                      </a:r>
                      <a:endParaRPr lang="en-GB" sz="1400" b="1" dirty="0">
                        <a:effectLst>
                          <a:glow rad="228600">
                            <a:srgbClr val="00B050">
                              <a:alpha val="40000"/>
                            </a:srgbClr>
                          </a:glow>
                        </a:effectLst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+mn-lt"/>
                        </a:rPr>
                        <a:t>31</a:t>
                      </a:r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744133" y="209812"/>
            <a:ext cx="739986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32000" indent="-432000" algn="ctr"/>
            <a:r>
              <a:rPr lang="en-GB" sz="4000" b="1" dirty="0" smtClean="0">
                <a:solidFill>
                  <a:srgbClr val="FFFFFF"/>
                </a:solidFill>
              </a:rPr>
              <a:t>Team Diary</a:t>
            </a:r>
            <a:endParaRPr lang="en-GB" sz="2800" b="1" dirty="0" smtClean="0">
              <a:solidFill>
                <a:srgbClr val="FFFFFF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744132" y="1085050"/>
            <a:ext cx="74591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32000" indent="-432000" algn="ctr"/>
            <a:r>
              <a:rPr lang="en-GB" sz="2400" dirty="0" smtClean="0">
                <a:solidFill>
                  <a:srgbClr val="FFFFFF"/>
                </a:solidFill>
              </a:rPr>
              <a:t>“Key account management is a team sport!”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44130" y="6096100"/>
            <a:ext cx="73998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32000" indent="-432000" algn="ctr"/>
            <a:r>
              <a:rPr lang="en-GB" sz="2400" dirty="0" smtClean="0">
                <a:solidFill>
                  <a:srgbClr val="FFFFFF"/>
                </a:solidFill>
              </a:rPr>
              <a:t>“None of us is as strong as all of us!”</a:t>
            </a:r>
          </a:p>
        </p:txBody>
      </p:sp>
    </p:spTree>
    <p:extLst>
      <p:ext uri="{BB962C8B-B14F-4D97-AF65-F5344CB8AC3E}">
        <p14:creationId xmlns="" xmlns:p14="http://schemas.microsoft.com/office/powerpoint/2010/main" val="199416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008717" y="1737288"/>
            <a:ext cx="2232025" cy="576262"/>
          </a:xfrm>
          <a:prstGeom prst="rect">
            <a:avLst/>
          </a:prstGeom>
          <a:solidFill>
            <a:srgbClr val="1E3A58"/>
          </a:solidFill>
          <a:ln w="12700">
            <a:solidFill>
              <a:srgbClr val="F8F8F8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rgbClr val="FFFFFF"/>
                </a:solidFill>
                <a:latin typeface="+mj-lt"/>
              </a:rPr>
              <a:t>Intelligence</a:t>
            </a:r>
            <a:endParaRPr lang="en-US" sz="2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008717" y="2313550"/>
            <a:ext cx="2232025" cy="2589213"/>
          </a:xfrm>
          <a:prstGeom prst="rect">
            <a:avLst/>
          </a:prstGeom>
          <a:solidFill>
            <a:srgbClr val="A70A4F"/>
          </a:solidFill>
          <a:ln w="12700">
            <a:solidFill>
              <a:srgbClr val="F8F8F8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GB" sz="2800" b="1" dirty="0" smtClean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GB" sz="2800" b="1" dirty="0" smtClean="0">
                <a:solidFill>
                  <a:srgbClr val="FFFFFF"/>
                </a:solidFill>
                <a:latin typeface="+mj-lt"/>
              </a:rPr>
              <a:t>What </a:t>
            </a:r>
            <a:r>
              <a:rPr lang="en-GB" sz="2800" b="1" dirty="0">
                <a:solidFill>
                  <a:srgbClr val="FFFFFF"/>
                </a:solidFill>
                <a:latin typeface="+mj-lt"/>
              </a:rPr>
              <a:t>is </a:t>
            </a:r>
            <a:r>
              <a:rPr lang="en-GB" sz="2800" b="1" dirty="0" smtClean="0">
                <a:solidFill>
                  <a:srgbClr val="FFFFFF"/>
                </a:solidFill>
                <a:latin typeface="+mj-lt"/>
              </a:rPr>
              <a:t>the</a:t>
            </a:r>
          </a:p>
          <a:p>
            <a:pPr algn="ctr"/>
            <a:r>
              <a:rPr lang="en-GB" sz="2800" b="1" dirty="0" smtClean="0">
                <a:solidFill>
                  <a:srgbClr val="FFFFFF"/>
                </a:solidFill>
                <a:latin typeface="+mj-lt"/>
              </a:rPr>
              <a:t>current</a:t>
            </a:r>
          </a:p>
          <a:p>
            <a:pPr algn="ctr"/>
            <a:r>
              <a:rPr lang="en-GB" sz="2800" b="1" dirty="0" smtClean="0">
                <a:solidFill>
                  <a:srgbClr val="FFFFFF"/>
                </a:solidFill>
                <a:latin typeface="+mj-lt"/>
              </a:rPr>
              <a:t>situation?</a:t>
            </a:r>
          </a:p>
          <a:p>
            <a:pPr algn="ctr"/>
            <a:endParaRPr lang="en-GB" sz="2800" b="1" dirty="0" smtClean="0">
              <a:solidFill>
                <a:srgbClr val="FFFFFF"/>
              </a:solidFill>
              <a:latin typeface="+mj-lt"/>
            </a:endParaRPr>
          </a:p>
          <a:p>
            <a:pPr algn="ctr"/>
            <a:endParaRPr lang="en-GB" sz="2800" b="1" dirty="0" smtClean="0">
              <a:solidFill>
                <a:srgbClr val="FFFFFF"/>
              </a:solidFill>
              <a:latin typeface="+mj-lt"/>
            </a:endParaRPr>
          </a:p>
          <a:p>
            <a:pPr algn="ctr"/>
            <a:endParaRPr lang="en-US" sz="28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4257676" y="1737288"/>
            <a:ext cx="2232025" cy="576262"/>
          </a:xfrm>
          <a:prstGeom prst="rect">
            <a:avLst/>
          </a:prstGeom>
          <a:solidFill>
            <a:srgbClr val="1E3A58"/>
          </a:solidFill>
          <a:ln w="12700">
            <a:solidFill>
              <a:srgbClr val="F8F8F8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2400" b="1" dirty="0" smtClean="0">
                <a:solidFill>
                  <a:srgbClr val="FFFFFF"/>
                </a:solidFill>
                <a:latin typeface="+mj-lt"/>
              </a:rPr>
              <a:t>Intentions</a:t>
            </a:r>
            <a:endParaRPr lang="en-US" sz="2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532036" y="1737288"/>
            <a:ext cx="2232025" cy="576262"/>
          </a:xfrm>
          <a:prstGeom prst="rect">
            <a:avLst/>
          </a:prstGeom>
          <a:solidFill>
            <a:srgbClr val="1E3A58"/>
          </a:solidFill>
          <a:ln w="12700">
            <a:solidFill>
              <a:srgbClr val="F8F8F8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2400" b="1" dirty="0" smtClean="0">
                <a:solidFill>
                  <a:srgbClr val="FFFFFF"/>
                </a:solidFill>
                <a:latin typeface="+mj-lt"/>
              </a:rPr>
              <a:t>Implementation</a:t>
            </a:r>
            <a:endParaRPr lang="en-US" sz="2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4268038" y="2313550"/>
            <a:ext cx="2232025" cy="2589213"/>
          </a:xfrm>
          <a:prstGeom prst="rect">
            <a:avLst/>
          </a:prstGeom>
          <a:solidFill>
            <a:srgbClr val="A70A4F"/>
          </a:solidFill>
          <a:ln w="12700">
            <a:solidFill>
              <a:srgbClr val="F8F8F8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GB" sz="2800" b="1" dirty="0" smtClean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GB" sz="2800" b="1" dirty="0" smtClean="0">
                <a:solidFill>
                  <a:srgbClr val="FFFFFF"/>
                </a:solidFill>
                <a:latin typeface="+mj-lt"/>
              </a:rPr>
              <a:t>What </a:t>
            </a:r>
            <a:r>
              <a:rPr lang="en-GB" sz="2800" b="1" dirty="0">
                <a:solidFill>
                  <a:srgbClr val="FFFFFF"/>
                </a:solidFill>
                <a:latin typeface="+mj-lt"/>
              </a:rPr>
              <a:t>are the plans for the future</a:t>
            </a:r>
            <a:r>
              <a:rPr lang="en-GB" sz="2800" b="1" dirty="0" smtClean="0">
                <a:solidFill>
                  <a:srgbClr val="FFFFFF"/>
                </a:solidFill>
                <a:latin typeface="+mj-lt"/>
              </a:rPr>
              <a:t>?</a:t>
            </a:r>
          </a:p>
          <a:p>
            <a:pPr algn="ctr"/>
            <a:endParaRPr lang="en-GB" sz="2800" b="1" dirty="0" smtClean="0">
              <a:solidFill>
                <a:srgbClr val="FFFFFF"/>
              </a:solidFill>
              <a:latin typeface="+mj-lt"/>
            </a:endParaRPr>
          </a:p>
          <a:p>
            <a:pPr algn="ctr"/>
            <a:endParaRPr lang="en-GB" sz="2800" b="1" dirty="0" smtClean="0">
              <a:solidFill>
                <a:srgbClr val="FFFFFF"/>
              </a:solidFill>
              <a:latin typeface="+mj-lt"/>
            </a:endParaRPr>
          </a:p>
          <a:p>
            <a:pPr algn="ctr"/>
            <a:endParaRPr lang="en-US" sz="28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6530710" y="2313550"/>
            <a:ext cx="2233352" cy="2615110"/>
          </a:xfrm>
          <a:prstGeom prst="rect">
            <a:avLst/>
          </a:prstGeom>
          <a:solidFill>
            <a:srgbClr val="A70A4F"/>
          </a:solidFill>
          <a:ln w="12700">
            <a:solidFill>
              <a:srgbClr val="F8F8F8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GB" sz="2800" b="1" dirty="0" smtClean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GB" sz="2800" b="1" dirty="0" smtClean="0">
                <a:solidFill>
                  <a:srgbClr val="FFFFFF"/>
                </a:solidFill>
                <a:latin typeface="+mj-lt"/>
              </a:rPr>
              <a:t>Who </a:t>
            </a:r>
            <a:r>
              <a:rPr lang="en-GB" sz="2800" b="1" dirty="0">
                <a:solidFill>
                  <a:srgbClr val="FFFFFF"/>
                </a:solidFill>
                <a:latin typeface="+mj-lt"/>
              </a:rPr>
              <a:t>is going to do what by when</a:t>
            </a:r>
            <a:r>
              <a:rPr lang="en-GB" sz="2800" b="1" dirty="0" smtClean="0">
                <a:solidFill>
                  <a:srgbClr val="FFFFFF"/>
                </a:solidFill>
                <a:latin typeface="+mj-lt"/>
              </a:rPr>
              <a:t>?</a:t>
            </a:r>
          </a:p>
          <a:p>
            <a:pPr algn="ctr"/>
            <a:endParaRPr lang="en-GB" sz="2800" b="1" dirty="0" smtClean="0">
              <a:solidFill>
                <a:srgbClr val="FFFFFF"/>
              </a:solidFill>
              <a:latin typeface="+mj-lt"/>
            </a:endParaRPr>
          </a:p>
          <a:p>
            <a:pPr algn="ctr"/>
            <a:endParaRPr lang="en-GB" sz="2800" b="1" dirty="0" smtClean="0">
              <a:solidFill>
                <a:srgbClr val="FFFFFF"/>
              </a:solidFill>
              <a:latin typeface="+mj-lt"/>
            </a:endParaRPr>
          </a:p>
          <a:p>
            <a:pPr algn="ctr"/>
            <a:endParaRPr lang="en-US" sz="2800" b="1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1848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238</Words>
  <Application>Microsoft Office PowerPoint</Application>
  <PresentationFormat>On-screen Show (4:3)</PresentationFormat>
  <Paragraphs>97</Paragraphs>
  <Slides>10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Document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Holly Nix</dc:creator>
  <cp:lastModifiedBy>Phil Jesson</cp:lastModifiedBy>
  <cp:revision>67</cp:revision>
  <dcterms:created xsi:type="dcterms:W3CDTF">2014-03-27T19:37:46Z</dcterms:created>
  <dcterms:modified xsi:type="dcterms:W3CDTF">2015-06-15T08:50:43Z</dcterms:modified>
</cp:coreProperties>
</file>